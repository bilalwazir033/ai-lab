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572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EMAIL / SMS SPAM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D700"/>
                </a:solidFill>
              </a:defRPr>
            </a:pPr>
            <a:r>
              <a:t>Project Report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7675" y="5669280"/>
            <a:ext cx="1153787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rPr dirty="0">
                <a:solidFill>
                  <a:schemeClr val="bg1"/>
                </a:solidFill>
              </a:rPr>
              <a:t>Section: E | Department of Computer Science | UET Peshawar</a:t>
            </a:r>
          </a:p>
          <a:p>
            <a:r>
              <a:rPr dirty="0">
                <a:solidFill>
                  <a:schemeClr val="bg1"/>
                </a:solidFill>
              </a:rPr>
              <a:t>Instructor: Rida Zarkash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👥 GROUP MEMBERS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00400" cy="2011680"/>
          </a:xfrm>
          <a:prstGeom prst="round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01</a:t>
            </a:r>
          </a:p>
          <a:p>
            <a:r>
              <a:t>Hazrat Bilal</a:t>
            </a:r>
          </a:p>
          <a:p>
            <a:r>
              <a:t>24PWBCS1345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645920"/>
            <a:ext cx="3200400" cy="2011680"/>
          </a:xfrm>
          <a:prstGeom prst="roundRect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173736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02</a:t>
            </a:r>
          </a:p>
          <a:p>
            <a:r>
              <a:t>Haroon Ur Rashid</a:t>
            </a:r>
          </a:p>
          <a:p>
            <a:r>
              <a:t>24PWBCS1357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45920"/>
            <a:ext cx="3200400" cy="201168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173736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03</a:t>
            </a:r>
          </a:p>
          <a:p>
            <a:r>
              <a:t>Khalida Afghan</a:t>
            </a:r>
          </a:p>
          <a:p>
            <a:r>
              <a:t>24PWBCS1416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4251960"/>
            <a:ext cx="3200400" cy="201168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434340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04</a:t>
            </a:r>
          </a:p>
          <a:p>
            <a:r>
              <a:t>Ilham Raza</a:t>
            </a:r>
          </a:p>
          <a:p>
            <a:r>
              <a:t>24PWBCS1259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05835" y="274320"/>
            <a:ext cx="427552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rPr dirty="0"/>
              <a:t> 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🔹 Abstract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🔹 Introduction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🔹 Problem Statement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🔹 Objectives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🔹 Methodology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 ▪ Dataset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 ▪ Data Cleaning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 ▪ Exploratory Data Analysis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 ▪ Text Preprocessing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 ▪ Feature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🔹 Model Building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🔹 Model Evaluation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🔹 Model Selection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🔹 Advanced Model Development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🔹 Model Saving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🔹 Deployment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🔹 Conclusion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51B432-21B7-FA9B-B09C-FDFF54F71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2564" y="0"/>
            <a:ext cx="1355712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📄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94332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rPr sz="2800" dirty="0"/>
              <a:t>An SMS Spam Detection system using Machine Learning and Natural Language Processing (NLP).</a:t>
            </a:r>
          </a:p>
          <a:p>
            <a:endParaRPr sz="2400" dirty="0"/>
          </a:p>
          <a:p>
            <a:r>
              <a:rPr sz="2400" dirty="0"/>
              <a:t>Objective: Automatically classify SMS messages as Spam or Ham</a:t>
            </a:r>
          </a:p>
          <a:p>
            <a:endParaRPr sz="2400" dirty="0"/>
          </a:p>
          <a:p>
            <a:r>
              <a:rPr sz="2400" dirty="0"/>
              <a:t>Approach:</a:t>
            </a:r>
          </a:p>
          <a:p>
            <a:r>
              <a:rPr sz="2400" dirty="0"/>
              <a:t>• Data Cleaning &amp; Text Preprocessing</a:t>
            </a:r>
          </a:p>
          <a:p>
            <a:r>
              <a:rPr sz="2400" dirty="0"/>
              <a:t>• TF-IDF Vectorization</a:t>
            </a:r>
          </a:p>
          <a:p>
            <a:r>
              <a:rPr sz="2400" dirty="0"/>
              <a:t>• Naive Bayes Classification</a:t>
            </a:r>
          </a:p>
          <a:p>
            <a:endParaRPr sz="2400" dirty="0"/>
          </a:p>
          <a:p>
            <a:r>
              <a:rPr sz="2400" dirty="0"/>
              <a:t> Best Model: Multinomial Naive Bayes (100% Precision)</a:t>
            </a:r>
          </a:p>
          <a:p>
            <a:endParaRPr sz="2400" dirty="0"/>
          </a:p>
          <a:p>
            <a:r>
              <a:rPr sz="2400" dirty="0"/>
              <a:t>Deployment: </a:t>
            </a:r>
            <a:r>
              <a:rPr sz="2400" dirty="0" err="1"/>
              <a:t>Streamlit</a:t>
            </a:r>
            <a:r>
              <a:rPr sz="2400" dirty="0"/>
              <a:t> Web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🔍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76180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rPr sz="3200" dirty="0"/>
              <a:t>What are Spam Messages?</a:t>
            </a:r>
          </a:p>
          <a:p>
            <a:r>
              <a:rPr sz="2800" dirty="0"/>
              <a:t> Spam = Unsolicited messages containing:</a:t>
            </a:r>
          </a:p>
          <a:p>
            <a:r>
              <a:rPr sz="2800" dirty="0"/>
              <a:t>   • Advertisements</a:t>
            </a:r>
          </a:p>
          <a:p>
            <a:r>
              <a:rPr sz="2800" dirty="0"/>
              <a:t>   • Scams &amp; Fraudulent offers</a:t>
            </a:r>
          </a:p>
          <a:p>
            <a:r>
              <a:rPr sz="2800" dirty="0"/>
              <a:t>   • Phishing attempts</a:t>
            </a:r>
          </a:p>
          <a:p>
            <a:endParaRPr sz="2800" dirty="0"/>
          </a:p>
          <a:p>
            <a:r>
              <a:rPr sz="2800" dirty="0"/>
              <a:t> Solution: Machine Learning + NLP</a:t>
            </a:r>
          </a:p>
          <a:p>
            <a:endParaRPr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sz="2800" dirty="0"/>
              <a:t> Clean &amp; Preprocess Text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sz="2800" dirty="0"/>
              <a:t>Convert to Numerical Features (TF-IDF)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sz="2800" dirty="0"/>
              <a:t>Train Naive Bayes Models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sz="2800" dirty="0"/>
              <a:t>Deploy as Web Application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414408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757252" cy="5078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rPr sz="3600" dirty="0"/>
              <a:t> Increasing Number of Spam SMS</a:t>
            </a:r>
          </a:p>
          <a:p>
            <a:endParaRPr sz="3200" dirty="0"/>
          </a:p>
          <a:p>
            <a:r>
              <a:rPr sz="3200" dirty="0"/>
              <a:t>Class Distribution:</a:t>
            </a:r>
          </a:p>
          <a:p>
            <a:r>
              <a:rPr sz="3200" dirty="0"/>
              <a:t>• Ham (Non-Spam): 87.37%</a:t>
            </a:r>
          </a:p>
          <a:p>
            <a:r>
              <a:rPr sz="3200" dirty="0"/>
              <a:t>• Spam: 12.63%</a:t>
            </a:r>
          </a:p>
          <a:p>
            <a:endParaRPr sz="3200" dirty="0"/>
          </a:p>
          <a:p>
            <a:r>
              <a:rPr sz="3200" dirty="0"/>
              <a:t> Challenges:</a:t>
            </a:r>
          </a:p>
          <a:p>
            <a:r>
              <a:rPr sz="3200" dirty="0"/>
              <a:t>• Users exposed to fraud &amp; phishing</a:t>
            </a:r>
          </a:p>
          <a:p>
            <a:r>
              <a:rPr sz="3200" dirty="0"/>
              <a:t>• Manual filtering is time-consuming</a:t>
            </a:r>
          </a:p>
          <a:p>
            <a:r>
              <a:rPr sz="3200" dirty="0"/>
              <a:t>• Need for automated, accurate 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880684" cy="5183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212121"/>
                </a:solidFill>
              </a:defRPr>
            </a:pPr>
            <a:r>
              <a:rPr sz="3200" dirty="0"/>
              <a:t>1️⃣ Build an SMS Spam Detection Model</a:t>
            </a:r>
          </a:p>
          <a:p>
            <a:pPr>
              <a:lnSpc>
                <a:spcPct val="150000"/>
              </a:lnSpc>
            </a:pPr>
            <a:r>
              <a:rPr sz="3200" dirty="0"/>
              <a:t>2️⃣ Clean and Preprocess Text Data</a:t>
            </a:r>
          </a:p>
          <a:p>
            <a:pPr>
              <a:lnSpc>
                <a:spcPct val="150000"/>
              </a:lnSpc>
            </a:pPr>
            <a:r>
              <a:rPr sz="3200" dirty="0"/>
              <a:t>3️⃣ Perform Exploratory Data Analysis</a:t>
            </a:r>
          </a:p>
          <a:p>
            <a:pPr>
              <a:lnSpc>
                <a:spcPct val="150000"/>
              </a:lnSpc>
            </a:pPr>
            <a:r>
              <a:rPr sz="3200" dirty="0"/>
              <a:t>4️⃣ Convert Text into TF-IDF Features</a:t>
            </a:r>
          </a:p>
          <a:p>
            <a:pPr>
              <a:lnSpc>
                <a:spcPct val="150000"/>
              </a:lnSpc>
            </a:pPr>
            <a:r>
              <a:rPr sz="3200" dirty="0"/>
              <a:t>5️⃣ Train and Compare Naive Bayes Classifiers</a:t>
            </a:r>
          </a:p>
          <a:p>
            <a:pPr>
              <a:lnSpc>
                <a:spcPct val="150000"/>
              </a:lnSpc>
            </a:pPr>
            <a:r>
              <a:rPr sz="3200" dirty="0"/>
              <a:t>6️⃣ Evaluate Model Performance</a:t>
            </a:r>
          </a:p>
          <a:p>
            <a:pPr>
              <a:lnSpc>
                <a:spcPct val="150000"/>
              </a:lnSpc>
            </a:pPr>
            <a:r>
              <a:rPr sz="3200" dirty="0"/>
              <a:t>7️⃣ Deploy the Model using </a:t>
            </a:r>
            <a:r>
              <a:rPr sz="3200" dirty="0" err="1"/>
              <a:t>Streamlit</a:t>
            </a:r>
            <a:endParaRPr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rPr dirty="0"/>
              <a:t>📁 SMS Spam Collection Dataset</a:t>
            </a:r>
          </a:p>
          <a:p>
            <a:endParaRPr dirty="0"/>
          </a:p>
          <a:p>
            <a:r>
              <a:rPr dirty="0"/>
              <a:t>Dataset Statistics:</a:t>
            </a:r>
          </a:p>
          <a:p>
            <a:r>
              <a:rPr dirty="0"/>
              <a:t>• Total Records: 5,572</a:t>
            </a:r>
          </a:p>
          <a:p>
            <a:r>
              <a:rPr dirty="0"/>
              <a:t>• Ham Messages: 4,827 (87.37%)</a:t>
            </a:r>
          </a:p>
          <a:p>
            <a:r>
              <a:rPr dirty="0"/>
              <a:t>• Spam Messages: 745 (12.63%)</a:t>
            </a:r>
          </a:p>
          <a:p>
            <a:endParaRPr dirty="0"/>
          </a:p>
          <a:p>
            <a:r>
              <a:rPr dirty="0"/>
              <a:t>Sample Data:</a:t>
            </a:r>
          </a:p>
          <a:p>
            <a:r>
              <a:rPr dirty="0"/>
              <a:t>┌────────┬──────────────────────────────────────────┐</a:t>
            </a:r>
          </a:p>
          <a:p>
            <a:r>
              <a:rPr dirty="0"/>
              <a:t>│ Label  │ Message                                  │</a:t>
            </a:r>
          </a:p>
          <a:p>
            <a:r>
              <a:rPr dirty="0"/>
              <a:t>├────────┼──────────────────────────────────────────┤</a:t>
            </a:r>
          </a:p>
          <a:p>
            <a:r>
              <a:rPr dirty="0"/>
              <a:t>│ ham    │ Go until </a:t>
            </a:r>
            <a:r>
              <a:rPr dirty="0" err="1"/>
              <a:t>jurong</a:t>
            </a:r>
            <a:r>
              <a:rPr dirty="0"/>
              <a:t> point, crazy..           │</a:t>
            </a:r>
          </a:p>
          <a:p>
            <a:r>
              <a:rPr dirty="0"/>
              <a:t>│ spam   │ Free entry in 2 a </a:t>
            </a:r>
            <a:r>
              <a:rPr dirty="0" err="1"/>
              <a:t>wkly</a:t>
            </a:r>
            <a:r>
              <a:rPr dirty="0"/>
              <a:t> comp...           │</a:t>
            </a:r>
          </a:p>
          <a:p>
            <a:r>
              <a:rPr dirty="0"/>
              <a:t>│ ham    │ U dun say so early hor...                │</a:t>
            </a:r>
          </a:p>
          <a:p>
            <a:r>
              <a:rPr dirty="0"/>
              <a:t>└────────┴──────────────────────────────────────────┘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🧹 DATA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🔧 Cleaning Steps:</a:t>
            </a:r>
          </a:p>
          <a:p>
            <a:endParaRPr/>
          </a:p>
          <a:p>
            <a:r>
              <a:t>✓ Remove unnecessary columns (Unnamed: 2,3,4)</a:t>
            </a:r>
          </a:p>
          <a:p>
            <a:r>
              <a:t>✓ Rename columns: v1→target, v2→text</a:t>
            </a:r>
          </a:p>
          <a:p>
            <a:r>
              <a:t>✓ Label Encoding: Ham=0, Spam=1</a:t>
            </a:r>
          </a:p>
          <a:p>
            <a:r>
              <a:t>✓ Remove duplicate records</a:t>
            </a:r>
          </a:p>
          <a:p>
            <a:r>
              <a:t>✓ No missing values found</a:t>
            </a:r>
          </a:p>
          <a:p>
            <a:endParaRPr/>
          </a:p>
          <a:p>
            <a:r>
              <a:t>Before:</a:t>
            </a:r>
          </a:p>
          <a:p>
            <a:r>
              <a:t>┌────────┬─────────────┬────────────┬───────────┬──────────┐</a:t>
            </a:r>
          </a:p>
          <a:p>
            <a:r>
              <a:t>│ v1     │ v2          │ Unnamed: 2 │ Unnamed:3 │ Unnamed:4│</a:t>
            </a:r>
          </a:p>
          <a:p>
            <a:r>
              <a:t>├────────┼─────────────┼────────────┼───────────┼──────────┤</a:t>
            </a:r>
          </a:p>
          <a:p>
            <a:r>
              <a:t>│ ham    │ message...  │ NaN        │ NaN       │ NaN      │</a:t>
            </a:r>
          </a:p>
          <a:p>
            <a:r>
              <a:t>└────────┴─────────────┴────────────┴───────────┴──────────┘</a:t>
            </a:r>
          </a:p>
          <a:p>
            <a:endParaRPr/>
          </a:p>
          <a:p>
            <a:r>
              <a:t>After:</a:t>
            </a:r>
          </a:p>
          <a:p>
            <a:r>
              <a:t>┌────────┬──────────────┐</a:t>
            </a:r>
          </a:p>
          <a:p>
            <a:r>
              <a:t>│ target │ text         │</a:t>
            </a:r>
          </a:p>
          <a:p>
            <a:r>
              <a:t>├────────┼──────────────┤</a:t>
            </a:r>
          </a:p>
          <a:p>
            <a:r>
              <a:t>│ 0      │ message...   │</a:t>
            </a:r>
          </a:p>
          <a:p>
            <a:r>
              <a:t>└────────┴──────────────┘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EDA - CLASS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Class Distribution of SMS Messages</a:t>
            </a:r>
          </a:p>
          <a:p>
            <a:endParaRPr/>
          </a:p>
          <a:p>
            <a:r>
              <a:t>          📊 87.37%              📊 12.63%</a:t>
            </a:r>
          </a:p>
          <a:p>
            <a:r>
              <a:t>         Ham (Non-Spam)            Spam</a:t>
            </a:r>
          </a:p>
          <a:p>
            <a:endParaRPr/>
          </a:p>
          <a:p>
            <a:r>
              <a:t>⚠️ Dataset is Imbalanced!</a:t>
            </a:r>
          </a:p>
          <a:p>
            <a:r>
              <a:t>• Precision is more important than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EDA - TEXT LENGTH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Three New Numerical Features Created:</a:t>
            </a:r>
          </a:p>
          <a:p>
            <a:endParaRPr/>
          </a:p>
          <a:p>
            <a:r>
              <a:t>📏 Characters    📝 Words    📝 Sentences</a:t>
            </a:r>
          </a:p>
          <a:p>
            <a:endParaRPr/>
          </a:p>
          <a:p>
            <a:r>
              <a:t>Example: "You've won a free prize!"</a:t>
            </a:r>
          </a:p>
          <a:p>
            <a:r>
              <a:t>Characters: 22    Words: 5    Sentences: 1</a:t>
            </a:r>
          </a:p>
          <a:p>
            <a:endParaRPr/>
          </a:p>
          <a:p>
            <a:r>
              <a:t>💡 Spam messages are generally:</a:t>
            </a:r>
          </a:p>
          <a:p>
            <a:r>
              <a:t>   • Longer (more characters)</a:t>
            </a:r>
          </a:p>
          <a:p>
            <a:r>
              <a:t>   • More words</a:t>
            </a:r>
          </a:p>
          <a:p>
            <a:r>
              <a:t>   • More sentences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EDA - CHARACTER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Comparison of Character Count</a:t>
            </a:r>
          </a:p>
          <a:p>
            <a:endParaRPr/>
          </a:p>
          <a:p>
            <a:r>
              <a:t>[Insert Histogram Image: media/image14.png]</a:t>
            </a:r>
          </a:p>
          <a:p>
            <a:endParaRPr/>
          </a:p>
          <a:p>
            <a:r>
              <a:t>📌 Key Insight:</a:t>
            </a:r>
          </a:p>
          <a:p>
            <a:r>
              <a:t>• Ham: Most contain &lt; 100 characters</a:t>
            </a:r>
          </a:p>
          <a:p>
            <a:r>
              <a:t>• Spam: Concentrated between 100-170 characters</a:t>
            </a:r>
          </a:p>
          <a:p>
            <a:endParaRPr/>
          </a:p>
          <a:p>
            <a:r>
              <a:t>🔵 Ham    🟠 Spam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EDA - WORD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Comparison of Word Count</a:t>
            </a:r>
          </a:p>
          <a:p>
            <a:endParaRPr/>
          </a:p>
          <a:p>
            <a:r>
              <a:t>[Insert Histogram Image: media/image15.png]</a:t>
            </a:r>
          </a:p>
          <a:p>
            <a:endParaRPr/>
          </a:p>
          <a:p>
            <a:r>
              <a:t>📌 Key Insight:</a:t>
            </a:r>
          </a:p>
          <a:p>
            <a:r>
              <a:t>• Ham: Mostly 5-20 words</a:t>
            </a:r>
          </a:p>
          <a:p>
            <a:r>
              <a:t>• Spam: Concentrated between 20-35 words</a:t>
            </a:r>
          </a:p>
          <a:p>
            <a:endParaRPr/>
          </a:p>
          <a:p>
            <a:r>
              <a:t>🔵 Ham    🟠 Spam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EDA - PAIR 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[Insert Pair Plot Image: media/image16.png]</a:t>
            </a:r>
          </a:p>
          <a:p>
            <a:endParaRPr/>
          </a:p>
          <a:p>
            <a:r>
              <a:t>📌 Key Insights:</a:t>
            </a:r>
          </a:p>
          <a:p>
            <a:r>
              <a:t>• Positive correlation: more characters = more words</a:t>
            </a:r>
          </a:p>
          <a:p>
            <a:r>
              <a:t>• Spam messages show higher values across all features</a:t>
            </a:r>
          </a:p>
          <a:p>
            <a:r>
              <a:t>• Features are useful for classification</a:t>
            </a:r>
          </a:p>
          <a:p>
            <a:endParaRPr/>
          </a:p>
          <a:p>
            <a:r>
              <a:t>🔵 Ham Messages    🟠 Spam Messages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EDA - CORRELATION 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[Insert Correlation Heatmap Image: media/image17.png]</a:t>
            </a:r>
          </a:p>
          <a:p>
            <a:endParaRPr/>
          </a:p>
          <a:p>
            <a:r>
              <a:t>📌 Key Insights:</a:t>
            </a:r>
          </a:p>
          <a:p>
            <a:r>
              <a:t>• Strong correlation: chars ↔ words (0.97)</a:t>
            </a:r>
          </a:p>
          <a:p>
            <a:r>
              <a:t>• Moderate: sentences ↔ chars (0.62) &amp; words (0.68)</a:t>
            </a:r>
          </a:p>
          <a:p>
            <a:r>
              <a:t>• Weak positive correlation with target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🔧 TEXT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Natural Language Processing (NLP) Pipeline</a:t>
            </a:r>
          </a:p>
          <a:p>
            <a:endParaRPr/>
          </a:p>
          <a:p>
            <a:r>
              <a:t>Raw Text: "Free entry in 2 a wkly comp!"</a:t>
            </a:r>
          </a:p>
          <a:p>
            <a:r>
              <a:t>     ↓ 1️⃣ Convert to Lowercase</a:t>
            </a:r>
          </a:p>
          <a:p>
            <a:r>
              <a:t>"free entry in 2 a wkly comp!"</a:t>
            </a:r>
          </a:p>
          <a:p>
            <a:r>
              <a:t>     ↓ 2️⃣ Tokenization</a:t>
            </a:r>
          </a:p>
          <a:p>
            <a:r>
              <a:t>['free', 'entry', 'in', '2', 'a', 'wkly', 'comp!']</a:t>
            </a:r>
          </a:p>
          <a:p>
            <a:r>
              <a:t>     ↓ 3️⃣ Remove Special Characters</a:t>
            </a:r>
          </a:p>
          <a:p>
            <a:r>
              <a:t>['free', 'entry', 'in', '2', 'a', 'wkly', 'comp']</a:t>
            </a:r>
          </a:p>
          <a:p>
            <a:r>
              <a:t>     ↓ 4️⃣ Remove Stop Words &amp; Punctuation</a:t>
            </a:r>
          </a:p>
          <a:p>
            <a:r>
              <a:t>['free', 'entry', 'wkly', 'comp']</a:t>
            </a:r>
          </a:p>
          <a:p>
            <a:r>
              <a:t>     ↓ 5️⃣ Porter Stemming</a:t>
            </a:r>
          </a:p>
          <a:p>
            <a:r>
              <a:t>['free', 'entri', 'wkli', 'comp']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☁️ WORD CLOUDS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🟠 Spam Message Word Cloud    🔵 Ham Message Word Cloud</a:t>
            </a:r>
          </a:p>
          <a:p>
            <a:endParaRPr/>
          </a:p>
          <a:p>
            <a:r>
              <a:t>[Insert Word Cloud Images: media/image19.png &amp; media/image20.png]</a:t>
            </a:r>
          </a:p>
          <a:p>
            <a:endParaRPr/>
          </a:p>
          <a:p>
            <a:r>
              <a:t>📌 Key Differences:</a:t>
            </a:r>
          </a:p>
          <a:p>
            <a:r>
              <a:t>• Spam: Promotional words (free, call, text, claim)</a:t>
            </a:r>
          </a:p>
          <a:p>
            <a:r>
              <a:t>• Ham: Conversational words (love, know, go, good)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TOP FREQUENT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🟠 Top 30 Words in Spam Messages</a:t>
            </a:r>
          </a:p>
          <a:p>
            <a:endParaRPr/>
          </a:p>
          <a:p>
            <a:r>
              <a:t>[Insert Bar Chart: media/image21.png]</a:t>
            </a:r>
          </a:p>
          <a:p>
            <a:endParaRPr/>
          </a:p>
          <a:p>
            <a:r>
              <a:t>🔵 Top 30 Words in Ham Messages</a:t>
            </a:r>
          </a:p>
          <a:p>
            <a:endParaRPr/>
          </a:p>
          <a:p>
            <a:r>
              <a:t>[Insert Bar Chart: media/image22.png]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🤖 MODEL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Workflow:</a:t>
            </a:r>
          </a:p>
          <a:p>
            <a:r>
              <a:t>TF-IDF Features → Train/Test Split (80/20) → Naive Bayes Classifiers</a:t>
            </a:r>
          </a:p>
          <a:p>
            <a:endParaRPr/>
          </a:p>
          <a:p>
            <a:r>
              <a:t>🔹 Gaussian Naive Bayes (GNB)</a:t>
            </a:r>
          </a:p>
          <a:p>
            <a:r>
              <a:t>🔹 Multinomial Naive Bayes (MNB)</a:t>
            </a:r>
          </a:p>
          <a:p>
            <a:r>
              <a:t>🔹 Bernoulli Naive Bayes (BNB)</a:t>
            </a:r>
          </a:p>
          <a:p>
            <a:endParaRPr/>
          </a:p>
          <a:p>
            <a:r>
              <a:t>Evaluation Metrics:</a:t>
            </a:r>
          </a:p>
          <a:p>
            <a:r>
              <a:t>• Accuracy</a:t>
            </a:r>
          </a:p>
          <a:p>
            <a:r>
              <a:t>• Precision (most important for imbalanced data)</a:t>
            </a:r>
          </a:p>
          <a:p>
            <a:r>
              <a:t>• Confusion Matrix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MODEL EVALUATION - NAIVE BAYES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📊 Results Comparison</a:t>
            </a:r>
          </a:p>
          <a:p>
            <a:endParaRPr/>
          </a:p>
          <a:p>
            <a:r>
              <a:t>┌────────────────┬──────────────┬──────────────┐</a:t>
            </a:r>
          </a:p>
          <a:p>
            <a:r>
              <a:t>│ Model          │   Accuracy   │   Precision  │</a:t>
            </a:r>
          </a:p>
          <a:p>
            <a:r>
              <a:t>├────────────────┼──────────────┼──────────────┤</a:t>
            </a:r>
          </a:p>
          <a:p>
            <a:r>
              <a:t>│ Gaussian NB    │   87.33%     │   51.60%     │</a:t>
            </a:r>
          </a:p>
          <a:p>
            <a:r>
              <a:t>│ Multinomial NB │   97.10%     │  🏆100.00%  │</a:t>
            </a:r>
          </a:p>
          <a:p>
            <a:r>
              <a:t>│ Bernoulli NB   │   98.36%     │   99.19%     │</a:t>
            </a:r>
          </a:p>
          <a:p>
            <a:r>
              <a:t>└────────────────┴──────────────┴──────────────┘</a:t>
            </a:r>
          </a:p>
          <a:p>
            <a:endParaRPr/>
          </a:p>
          <a:p>
            <a:r>
              <a:t>🏆 Best Model: Multinomial Naive Bayes</a:t>
            </a:r>
          </a:p>
          <a:p>
            <a:r>
              <a:t>✅ Why? 100% Precision - No ham misclassified as spam</a:t>
            </a:r>
          </a:p>
          <a:p>
            <a:endParaRPr/>
          </a:p>
          <a:p>
            <a:r>
              <a:t>⚠️ Note: Precision &gt; Accuracy for imbalanced datasets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🚀 ADVANCED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🔬 Additional Models Tested:</a:t>
            </a:r>
          </a:p>
          <a:p>
            <a:r>
              <a:t>🧠 Support Vector Machine (SVM)</a:t>
            </a:r>
          </a:p>
          <a:p>
            <a:r>
              <a:t>🌲 Random Forest (RF)</a:t>
            </a:r>
          </a:p>
          <a:p>
            <a:endParaRPr/>
          </a:p>
          <a:p>
            <a:r>
              <a:t>📊 Advanced Model Results</a:t>
            </a:r>
          </a:p>
          <a:p>
            <a:r>
              <a:t>┌────────────────┬──────────────┬──────────────┐</a:t>
            </a:r>
          </a:p>
          <a:p>
            <a:r>
              <a:t>│ Model          │   Accuracy   │   Precision  │</a:t>
            </a:r>
          </a:p>
          <a:p>
            <a:r>
              <a:t>├────────────────┼──────────────┼──────────────┤</a:t>
            </a:r>
          </a:p>
          <a:p>
            <a:r>
              <a:t>│ SVM            │   97.58%     │   97.48%     │</a:t>
            </a:r>
          </a:p>
          <a:p>
            <a:r>
              <a:t>│ Random Forest  │   97.68%     │   97.50%     │</a:t>
            </a:r>
          </a:p>
          <a:p>
            <a:r>
              <a:t>└────────────────┴──────────────┴──────────────┘</a:t>
            </a:r>
          </a:p>
          <a:p>
            <a:endParaRPr/>
          </a:p>
          <a:p>
            <a:r>
              <a:t>💡 Decision: MNB remains the final model</a:t>
            </a:r>
          </a:p>
          <a:p>
            <a:r>
              <a:t>📌 Reason: 100% Precision &gt; Small accuracy improvement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💾 MODEL SAVING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Saved Models using Pickle Library</a:t>
            </a:r>
          </a:p>
          <a:p>
            <a:endParaRPr/>
          </a:p>
          <a:p>
            <a:r>
              <a:t>📁 Saved Files:</a:t>
            </a:r>
          </a:p>
          <a:p>
            <a:r>
              <a:t>  🗂️ model.pkl        (Multinomial NB)</a:t>
            </a:r>
          </a:p>
          <a:p>
            <a:r>
              <a:t>  🗂️ vectorizer.pkl   (TF-IDF Vectorizer)</a:t>
            </a:r>
          </a:p>
          <a:p>
            <a:endParaRPr/>
          </a:p>
          <a:p>
            <a:r>
              <a:t>🔄 These files are used for deployment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🌐 DEPLOYMENT -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[Insert Streamlit App Screenshot: media/image23.png]</a:t>
            </a:r>
          </a:p>
          <a:p>
            <a:endParaRPr/>
          </a:p>
          <a:p>
            <a:r>
              <a:t>┌─────────────────────────────────────────────┐</a:t>
            </a:r>
          </a:p>
          <a:p>
            <a:r>
              <a:t>│  📱 SMS / Email Spam Classifier             │</a:t>
            </a:r>
          </a:p>
          <a:p>
            <a:r>
              <a:t>│                                             │</a:t>
            </a:r>
          </a:p>
          <a:p>
            <a:r>
              <a:t>│  ┌─────────────────────────────────────┐   │</a:t>
            </a:r>
          </a:p>
          <a:p>
            <a:r>
              <a:t>│  │ Enter your message here...          │   │</a:t>
            </a:r>
          </a:p>
          <a:p>
            <a:r>
              <a:t>│  └─────────────────────────────────────┘   │</a:t>
            </a:r>
          </a:p>
          <a:p>
            <a:r>
              <a:t>│                                             │</a:t>
            </a:r>
          </a:p>
          <a:p>
            <a:r>
              <a:t>│  [ 🔍 Predict Button ]                     │</a:t>
            </a:r>
          </a:p>
          <a:p>
            <a:r>
              <a:t>│                                             │</a:t>
            </a:r>
          </a:p>
          <a:p>
            <a:r>
              <a:t>│  ┌─────────────────────────────────────┐   │</a:t>
            </a:r>
          </a:p>
          <a:p>
            <a:r>
              <a:t>│  │ ✅ Prediction: Not Spam (Ham)      │   │</a:t>
            </a:r>
          </a:p>
          <a:p>
            <a:r>
              <a:t>│  └─────────────────────────────────────┘   │</a:t>
            </a:r>
          </a:p>
          <a:p>
            <a:r>
              <a:t>└─────────────────────────────────────────────┘</a:t>
            </a:r>
          </a:p>
          <a:p>
            <a:endParaRPr/>
          </a:p>
          <a:p>
            <a:r>
              <a:t>🔹 Real-time classification</a:t>
            </a:r>
          </a:p>
          <a:p>
            <a:r>
              <a:t>🔹 User-friendly interface</a:t>
            </a:r>
          </a:p>
          <a:p>
            <a:r>
              <a:t>🔹 Instant results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🔄 DEPLOYMENT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1️⃣ User enters message in text box</a:t>
            </a:r>
          </a:p>
          <a:p>
            <a:r>
              <a:t>              ↓</a:t>
            </a:r>
          </a:p>
          <a:p>
            <a:r>
              <a:t>2️⃣ Click "Predict" button</a:t>
            </a:r>
          </a:p>
          <a:p>
            <a:r>
              <a:t>              ↓</a:t>
            </a:r>
          </a:p>
          <a:p>
            <a:r>
              <a:t>3️⃣ Text is preprocessed (lowercase, tokenize, etc.)</a:t>
            </a:r>
          </a:p>
          <a:p>
            <a:r>
              <a:t>              ↓</a:t>
            </a:r>
          </a:p>
          <a:p>
            <a:r>
              <a:t>4️⃣ Converted to TF-IDF features</a:t>
            </a:r>
          </a:p>
          <a:p>
            <a:r>
              <a:t>              ↓</a:t>
            </a:r>
          </a:p>
          <a:p>
            <a:r>
              <a:t>5️⃣ Trained model predicts class</a:t>
            </a:r>
          </a:p>
          <a:p>
            <a:r>
              <a:t>              ↓</a:t>
            </a:r>
          </a:p>
          <a:p>
            <a:r>
              <a:t>6️⃣ Result displayed: "Spam" or "Not Spam (Ham)"</a:t>
            </a:r>
          </a:p>
          <a:p>
            <a:endParaRPr/>
          </a:p>
          <a:p>
            <a:r>
              <a:t>📱 Quick &amp; Easy!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RESULTS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🏆 Best Model: Multinomial Naive Bayes</a:t>
            </a:r>
          </a:p>
          <a:p>
            <a:endParaRPr/>
          </a:p>
          <a:p>
            <a:r>
              <a:t>✅ Accuracy: 97.10%</a:t>
            </a:r>
          </a:p>
          <a:p>
            <a:r>
              <a:t>✅ Precision: 100.00%</a:t>
            </a:r>
          </a:p>
          <a:p>
            <a:endParaRPr/>
          </a:p>
          <a:p>
            <a:r>
              <a:t>📈 Key Achievements:</a:t>
            </a:r>
          </a:p>
          <a:p>
            <a:r>
              <a:t>✓ No ham messages misclassified as spam</a:t>
            </a:r>
          </a:p>
          <a:p>
            <a:r>
              <a:t>✓ High accuracy on imbalanced dataset</a:t>
            </a:r>
          </a:p>
          <a:p>
            <a:r>
              <a:t>✓ Real-time prediction capability</a:t>
            </a:r>
          </a:p>
          <a:p>
            <a:r>
              <a:t>✓ User-friendly web interface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✅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🎯 Project Successfully Achieved:</a:t>
            </a:r>
          </a:p>
          <a:p>
            <a:endParaRPr/>
          </a:p>
          <a:p>
            <a:r>
              <a:t>1️⃣ Complete end-to-end data science pipeline</a:t>
            </a:r>
          </a:p>
          <a:p>
            <a:r>
              <a:t>2️⃣ 100% Precision → No false positives</a:t>
            </a:r>
          </a:p>
          <a:p>
            <a:r>
              <a:t>3️⃣ Deployed as Streamlit web application</a:t>
            </a:r>
          </a:p>
          <a:p>
            <a:r>
              <a:t>4️⃣ Effective solution for spam message detection</a:t>
            </a:r>
          </a:p>
          <a:p>
            <a:endParaRPr/>
          </a:p>
          <a:p>
            <a:r>
              <a:t>🔄 Complete Data Science Pipeline:</a:t>
            </a:r>
          </a:p>
          <a:p>
            <a:r>
              <a:t>Data → Clean → Analyze → Model → Evaluate → Deploy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D700"/>
                </a:solidFill>
              </a:defRPr>
            </a:pPr>
            <a:r>
              <a:t>🙏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Email/SMS Spam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Team: Hazrat Bilal • Haroon Ur Rashid • Khalida Afghan • Ilham Raza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UET Peshawar | Department of Computer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1477</Words>
  <Application>Microsoft Office PowerPoint</Application>
  <PresentationFormat>Widescreen</PresentationFormat>
  <Paragraphs>313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Hazrat Bilal</cp:lastModifiedBy>
  <cp:revision>2</cp:revision>
  <dcterms:created xsi:type="dcterms:W3CDTF">2013-01-27T09:14:16Z</dcterms:created>
  <dcterms:modified xsi:type="dcterms:W3CDTF">2026-07-09T11:31:08Z</dcterms:modified>
  <cp:category/>
</cp:coreProperties>
</file>